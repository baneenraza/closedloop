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rham" userId="9d56e08c-62e7-4b62-9cd3-d5c4b1a82e2f" providerId="ADAL" clId="{CBA83874-1EE6-4573-B8D5-E3D84FED3562}"/>
    <pc:docChg chg="undo custSel modSld">
      <pc:chgData name="Muhammad Arham" userId="9d56e08c-62e7-4b62-9cd3-d5c4b1a82e2f" providerId="ADAL" clId="{CBA83874-1EE6-4573-B8D5-E3D84FED3562}" dt="2026-10-19T13:58:12.216" v="3" actId="27636"/>
      <pc:docMkLst>
        <pc:docMk/>
      </pc:docMkLst>
      <pc:sldChg chg="modSp mod">
        <pc:chgData name="Muhammad Arham" userId="9d56e08c-62e7-4b62-9cd3-d5c4b1a82e2f" providerId="ADAL" clId="{CBA83874-1EE6-4573-B8D5-E3D84FED3562}" dt="2026-10-19T13:58:12.216" v="3" actId="27636"/>
        <pc:sldMkLst>
          <pc:docMk/>
          <pc:sldMk cId="0" sldId="256"/>
        </pc:sldMkLst>
        <pc:spChg chg="mod">
          <ac:chgData name="Muhammad Arham" userId="9d56e08c-62e7-4b62-9cd3-d5c4b1a82e2f" providerId="ADAL" clId="{CBA83874-1EE6-4573-B8D5-E3D84FED3562}" dt="2026-10-19T13:58:12.216" v="3" actId="27636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55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— your digital watchman. Open with the framing: a proactive shield, not another scanner.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sits between the user and the danger. It never asks for the permissions scam apps abuse.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engine, three signals. Every check resolves to a color, a reason, and an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who wouldn't think to check: low-literacy, non-technical Android users in Pakistan.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Designed around the accessibility barrier: voice, color, proactivity, bilingual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a real device — walk through home, a caught scam, a safe message, an intercepted link, and the VERIFY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is the technical differentiator, not a convenience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door metaphor and the honesty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27" y="1047715"/>
            <a:ext cx="323849" cy="323849"/>
          </a:xfrm>
          <a:prstGeom prst="ellipse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38156" y="1047715"/>
            <a:ext cx="323849" cy="323849"/>
          </a:xfrm>
          <a:prstGeom prst="ellipse">
            <a:avLst/>
          </a:prstGeom>
          <a:solidFill>
            <a:srgbClr val="F5B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33385" y="1047715"/>
            <a:ext cx="323849" cy="323849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80952" y="1076018"/>
            <a:ext cx="4374802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RED · YELLOW · GREEN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927" y="3019894"/>
            <a:ext cx="13442622" cy="1922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11"/>
              </a:lnSpc>
              <a:buNone/>
            </a:pPr>
            <a:r>
              <a:rPr lang="en-US" sz="17250" b="1" kern="0" spc="-862" dirty="0">
                <a:solidFill>
                  <a:srgbClr val="FDF6E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LOOP</a:t>
            </a:r>
            <a:endParaRPr lang="en-US" sz="17250" dirty="0"/>
          </a:p>
        </p:txBody>
      </p:sp>
      <p:sp>
        <p:nvSpPr>
          <p:cNvPr id="7" name="Text 5"/>
          <p:cNvSpPr/>
          <p:nvPr/>
        </p:nvSpPr>
        <p:spPr>
          <a:xfrm>
            <a:off x="1142927" y="5075284"/>
            <a:ext cx="13442622" cy="795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646"/>
              </a:lnSpc>
              <a:buNone/>
            </a:pPr>
            <a:r>
              <a:rPr lang="en-US" sz="5850" b="1" i="1" dirty="0">
                <a:solidFill>
                  <a:srgbClr val="F5B72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Your Digital Watchman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142927" y="6156779"/>
            <a:ext cx="10595603" cy="921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131"/>
              </a:lnSpc>
              <a:buNone/>
            </a:pPr>
            <a:r>
              <a:rPr lang="en-US" sz="2400" dirty="0">
                <a:solidFill>
                  <a:srgbClr val="E4DACA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A proactive shield against scams, deepfakes &amp; fraud — built for Android users who don't already suspect they're being targeted.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 rot="359998">
            <a:off x="14030252" y="3925855"/>
            <a:ext cx="3114675" cy="3114675"/>
          </a:xfrm>
          <a:prstGeom prst="ellipse">
            <a:avLst/>
          </a:prstGeom>
          <a:solidFill>
            <a:srgbClr val="E8452C"/>
          </a:solidFill>
          <a:ln w="33389">
            <a:solidFill>
              <a:srgbClr val="FDF6E9"/>
            </a:solidFill>
            <a:prstDash val="solid"/>
          </a:ln>
          <a:effectLst>
            <a:outerShdw blurRad="101600" dist="161645" dir="2700000" algn="bl" rotWithShape="0">
              <a:srgbClr val="FDF6E9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787136" y="4500773"/>
            <a:ext cx="1761191" cy="47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288" dirty="0">
                <a:solidFill>
                  <a:srgbClr val="FFD9D1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CHECK THE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567312" y="4873793"/>
            <a:ext cx="2000689" cy="1636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1434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DOOR, NOT THE HOUSE</a:t>
            </a:r>
            <a:endParaRPr lang="en-US" sz="3450" dirty="0"/>
          </a:p>
        </p:txBody>
      </p:sp>
      <p:sp>
        <p:nvSpPr>
          <p:cNvPr id="12" name="Shape 10"/>
          <p:cNvSpPr/>
          <p:nvPr/>
        </p:nvSpPr>
        <p:spPr>
          <a:xfrm>
            <a:off x="1142927" y="8688878"/>
            <a:ext cx="16002019" cy="16695"/>
          </a:xfrm>
          <a:prstGeom prst="rect">
            <a:avLst/>
          </a:prstGeom>
          <a:solidFill>
            <a:srgbClr val="3A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927" y="8972165"/>
            <a:ext cx="5164169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NYLP AI HACKATHON 2026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8585" y="8972165"/>
            <a:ext cx="5759996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DF6E9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TEAM CLOSEDLOOP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27" y="857423"/>
            <a:ext cx="152338" cy="152338"/>
          </a:xfrm>
          <a:prstGeom prst="ellipse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47603" y="800036"/>
            <a:ext cx="2801510" cy="30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E8452C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01 · CORE IDEA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927" y="1276614"/>
            <a:ext cx="13734977" cy="166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62"/>
              </a:lnSpc>
              <a:buNone/>
            </a:pPr>
            <a:r>
              <a:rPr lang="en-US" sz="6300" b="1" kern="0" spc="-189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A Proactive Shield, </a:t>
            </a:r>
            <a:r>
              <a:rPr lang="en-US" sz="6300" b="1" i="1" kern="0" spc="-189" dirty="0">
                <a:solidFill>
                  <a:srgbClr val="E8452C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Not </a:t>
            </a:r>
            <a:r>
              <a:rPr lang="en-US" sz="6300" b="1" kern="0" spc="-189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a Reactive Scanner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142927" y="3327570"/>
            <a:ext cx="7966316" cy="21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241"/>
              </a:lnSpc>
              <a:buNone/>
            </a:pPr>
            <a:r>
              <a:rPr lang="en-US" sz="225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Most safety apps wait for a user to get suspicious and go open them. Loop flips that: it sits on the phone at all times and puts itself between the user and the danger — before a scam link ever loads or a scam message ever gets acted on.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 rot="-72000">
            <a:off x="1142919" y="5736135"/>
            <a:ext cx="7734302" cy="2019301"/>
          </a:xfrm>
          <a:prstGeom prst="roundRect">
            <a:avLst>
              <a:gd name="adj" fmla="val 12264"/>
            </a:avLst>
          </a:prstGeom>
          <a:solidFill>
            <a:srgbClr val="F5B720"/>
          </a:solidFill>
          <a:ln w="33389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5367" y="6021740"/>
            <a:ext cx="7178489" cy="148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65"/>
              </a:lnSpc>
              <a:buNone/>
            </a:pPr>
            <a:r>
              <a:rPr lang="en-US" sz="28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“We check the door you’re about to walk through — we don’t read your house.”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2927" y="8021095"/>
            <a:ext cx="7966316" cy="11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50"/>
              </a:lnSpc>
              <a:buNone/>
            </a:pPr>
            <a:r>
              <a:rPr lang="en-US" sz="1950" dirty="0">
                <a:solidFill>
                  <a:srgbClr val="4A443A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Loop never asks for READ_SMS, notification access, accessibility service, or live call-audio capture — permissions every scam app abuses. It only intercepts the moment a user is about to act.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 rot="60000">
            <a:off x="9410585" y="3347688"/>
            <a:ext cx="7734302" cy="2724151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831778" y="3685212"/>
            <a:ext cx="610473" cy="610474"/>
          </a:xfrm>
          <a:prstGeom prst="ellipse">
            <a:avLst/>
          </a:prstGeom>
          <a:solidFill>
            <a:srgbClr val="3D8BD9"/>
          </a:solidFill>
          <a:ln w="33389">
            <a:solidFill>
              <a:srgbClr val="1714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4436" y="3773269"/>
            <a:ext cx="4554927" cy="560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Floating Shield Bubble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808586" y="4456567"/>
            <a:ext cx="7132582" cy="1315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A system-overlay bubble lives on top of every app. Tap it for a quick menu — "Check a message/link" or "I'm on a call."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 rot="-60000">
            <a:off x="9410585" y="6391058"/>
            <a:ext cx="7734302" cy="2724151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08586" y="6838630"/>
            <a:ext cx="610474" cy="610474"/>
          </a:xfrm>
          <a:prstGeom prst="roundRect">
            <a:avLst>
              <a:gd name="adj" fmla="val 21844"/>
            </a:avLst>
          </a:prstGeom>
          <a:solidFill>
            <a:srgbClr val="2E9E5B"/>
          </a:solidFill>
          <a:ln w="33389">
            <a:solidFill>
              <a:srgbClr val="1714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81244" y="6837644"/>
            <a:ext cx="4583041" cy="561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Real Link Interception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822050" y="7499937"/>
            <a:ext cx="7132581" cy="1315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Loop is the phone's default browser handler. Any tapped link — SMS, WhatsApp, notes — routes through Loop's check screen first, before the real site opens.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2927" y="9334098"/>
            <a:ext cx="6554385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LOOP · NYLP AI HACKATHON 2026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64305" y="9334098"/>
            <a:ext cx="256841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27" y="857423"/>
            <a:ext cx="152338" cy="152338"/>
          </a:xfrm>
          <a:prstGeom prst="ellipse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47603" y="800036"/>
            <a:ext cx="2801510" cy="30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E8452C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01 · CORE IDEA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927" y="1276614"/>
            <a:ext cx="10399602" cy="1592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425"/>
              </a:lnSpc>
              <a:buNone/>
            </a:pPr>
            <a:r>
              <a:rPr lang="en-US" sz="6000" b="1" kern="0" spc="-18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Under the Hood: One Check Engine, </a:t>
            </a:r>
            <a:r>
              <a:rPr lang="en-US" sz="6000" b="1" kern="0" spc="-180" dirty="0">
                <a:solidFill>
                  <a:srgbClr val="3D8BD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Three Signals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811027" y="1287570"/>
            <a:ext cx="5493937" cy="158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4A443A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Every check — a pasted message, an intercepted link, or a suspicious photo — resolves to the same simple output: a color, a reason, and an action.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 rot="-90000">
            <a:off x="1144497" y="3270059"/>
            <a:ext cx="5114923" cy="1571624"/>
          </a:xfrm>
          <a:prstGeom prst="roundRect">
            <a:avLst>
              <a:gd name="adj" fmla="val 15758"/>
            </a:avLst>
          </a:prstGeom>
          <a:solidFill>
            <a:srgbClr val="E8452C"/>
          </a:solidFill>
          <a:ln w="33389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8669" y="3530425"/>
            <a:ext cx="4856948" cy="66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207" dirty="0">
                <a:solidFill>
                  <a:srgbClr val="FFFF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RED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503992" y="4115578"/>
            <a:ext cx="4852381" cy="503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Stop — this is a scam.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 rot="48000">
            <a:off x="6586407" y="3270058"/>
            <a:ext cx="5114927" cy="1571626"/>
          </a:xfrm>
          <a:prstGeom prst="roundRect">
            <a:avLst>
              <a:gd name="adj" fmla="val 15758"/>
            </a:avLst>
          </a:prstGeom>
          <a:solidFill>
            <a:srgbClr val="F5B720"/>
          </a:solidFill>
          <a:ln w="33389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1716" y="3557204"/>
            <a:ext cx="4851294" cy="608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207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YELLOW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35758" y="4142501"/>
            <a:ext cx="4848858" cy="450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Be careful — verify first.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 rot="-36000">
            <a:off x="12028322" y="3270058"/>
            <a:ext cx="5114924" cy="1571625"/>
          </a:xfrm>
          <a:prstGeom prst="roundRect">
            <a:avLst>
              <a:gd name="adj" fmla="val 15758"/>
            </a:avLst>
          </a:prstGeom>
          <a:solidFill>
            <a:srgbClr val="2E9E5B"/>
          </a:solidFill>
          <a:ln w="33389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79210" y="3564870"/>
            <a:ext cx="4849546" cy="5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207" dirty="0">
                <a:solidFill>
                  <a:srgbClr val="FFFF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GREEN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385339" y="4150191"/>
            <a:ext cx="4847719" cy="43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Looks safe to proceed.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342826" y="5128497"/>
            <a:ext cx="17602220" cy="363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b="1" i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+ a one-sentence, plain-language reason, spoken aloud and shown in English or Urdu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142927" y="5777891"/>
            <a:ext cx="5118064" cy="3308658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0165" y="6115956"/>
            <a:ext cx="4843946" cy="422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Text &amp; Link Check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500165" y="6633227"/>
            <a:ext cx="666740" cy="76169"/>
          </a:xfrm>
          <a:prstGeom prst="rect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0165" y="6861735"/>
            <a:ext cx="4535695" cy="11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50"/>
              </a:lnSpc>
              <a:buNone/>
            </a:pPr>
            <a:r>
              <a:rPr lang="en-US" sz="195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Groq LLM classifies messages; regex heuristics flag raw IPs, no-https, and trust-bait domains first.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584839" y="5777891"/>
            <a:ext cx="5118064" cy="3308658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2077" y="6115956"/>
            <a:ext cx="4843946" cy="422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Image Check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942077" y="6633227"/>
            <a:ext cx="666740" cy="76169"/>
          </a:xfrm>
          <a:prstGeom prst="rect">
            <a:avLst/>
          </a:prstGeom>
          <a:solidFill>
            <a:srgbClr val="F5B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2077" y="6861735"/>
            <a:ext cx="4535695" cy="11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50"/>
              </a:lnSpc>
              <a:buNone/>
            </a:pPr>
            <a:r>
              <a:rPr lang="en-US" sz="195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Gemini vision reads photos &amp; videos for manipulation tells — always paired with "verify independently."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26752" y="5777891"/>
            <a:ext cx="5118064" cy="3308658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383989" y="6115956"/>
            <a:ext cx="4843946" cy="422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Screenshot Rule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2383989" y="6633227"/>
            <a:ext cx="666740" cy="76169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383989" y="6861735"/>
            <a:ext cx="4535695" cy="11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50"/>
              </a:lnSpc>
              <a:buNone/>
            </a:pPr>
            <a:r>
              <a:rPr lang="en-US" sz="195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Fixed reply: "Screenshots prove nothing — check your own app." No analysis attempted, by design.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42927" y="9334098"/>
            <a:ext cx="6554385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LOOP · NYLP AI HACKATHON 2026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64305" y="9334098"/>
            <a:ext cx="256841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27" y="857423"/>
            <a:ext cx="152338" cy="152338"/>
          </a:xfrm>
          <a:prstGeom prst="ellipse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47603" y="800036"/>
            <a:ext cx="4002100" cy="30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E8452C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02 · TARGET AUDIENCE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927" y="1276614"/>
            <a:ext cx="14323651" cy="174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71"/>
              </a:lnSpc>
              <a:buNone/>
            </a:pPr>
            <a:r>
              <a:rPr lang="en-US" sz="6600" b="1" kern="0" spc="-198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Built for the User Who </a:t>
            </a:r>
            <a:r>
              <a:rPr lang="en-US" sz="6600" b="1" i="1" kern="0" spc="-198" dirty="0">
                <a:solidFill>
                  <a:srgbClr val="3D8BD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Wouldn't Think </a:t>
            </a:r>
            <a:r>
              <a:rPr lang="en-US" sz="6600" b="1" kern="0" spc="-198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to Check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2927" y="3253096"/>
            <a:ext cx="13146302" cy="136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131"/>
              </a:lnSpc>
              <a:buNone/>
            </a:pPr>
            <a:r>
              <a:rPr lang="en-US" sz="2400" dirty="0">
                <a:solidFill>
                  <a:srgbClr val="4A443A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Low-literacy, non-technical Android users in Pakistan — people who don't already suspect they're being scammed, may not read fluently, and think in a local language, not English.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 rot="-72000">
            <a:off x="1144503" y="5056855"/>
            <a:ext cx="5076827" cy="4038601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61645" dir="2700000" algn="bl" rotWithShape="0">
              <a:srgbClr val="E8452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5068" y="5424740"/>
            <a:ext cx="4730398" cy="699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582"/>
              </a:lnSpc>
              <a:buNone/>
            </a:pPr>
            <a:r>
              <a:rPr lang="en-US" sz="4500" b="1" dirty="0">
                <a:solidFill>
                  <a:srgbClr val="E8452C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01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519430" y="6110372"/>
            <a:ext cx="4726820" cy="544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95"/>
              </a:lnSpc>
              <a:buNone/>
            </a:pPr>
            <a:r>
              <a:rPr lang="en-US" sz="28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Not already suspicious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531337" y="6678775"/>
            <a:ext cx="4450333" cy="1670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Scam-checking apps only help people who remember to open them. Loop's proactive layer serves everyone else.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 rot="54000">
            <a:off x="6605458" y="5056855"/>
            <a:ext cx="5076827" cy="4038601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61645" dir="2700000" algn="bl" rotWithShape="0">
              <a:srgbClr val="F5B72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15731" y="5435814"/>
            <a:ext cx="4727560" cy="676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582"/>
              </a:lnSpc>
              <a:buNone/>
            </a:pPr>
            <a:r>
              <a:rPr lang="en-US" sz="4500" b="1" dirty="0">
                <a:solidFill>
                  <a:srgbClr val="C98F0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02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7007399" y="6121511"/>
            <a:ext cx="4724876" cy="5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95"/>
              </a:lnSpc>
              <a:buNone/>
            </a:pPr>
            <a:r>
              <a:rPr lang="en-US" sz="28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Local-language first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80766" y="6689970"/>
            <a:ext cx="4442436" cy="1648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Urdu-speaking, non-technical users are consistently underserved by English-only, jargon-heavy security tools.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 rot="-36000">
            <a:off x="12066414" y="5056856"/>
            <a:ext cx="5076824" cy="4038599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61645" dir="2700000" algn="bl" rotWithShape="0">
              <a:srgbClr val="2E9E5B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443450" y="5446931"/>
            <a:ext cx="4724592" cy="654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582"/>
              </a:lnSpc>
              <a:buNone/>
            </a:pPr>
            <a:r>
              <a:rPr lang="en-US" sz="4500" b="1" dirty="0">
                <a:solidFill>
                  <a:srgbClr val="2E9E5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03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2450632" y="6132676"/>
            <a:ext cx="4426749" cy="915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95"/>
              </a:lnSpc>
              <a:buNone/>
            </a:pPr>
            <a:r>
              <a:rPr lang="en-US" sz="28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The Android-native threat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460943" y="7117342"/>
            <a:ext cx="4434416" cy="1626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The SMS-stealing malware this problem targets is itself Android-native — this is where the risk actually lives.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142927" y="9478349"/>
            <a:ext cx="6554385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LOOP · NYLP AI HACKATHON 2026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64305" y="9478349"/>
            <a:ext cx="256841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27" y="857423"/>
            <a:ext cx="152338" cy="152338"/>
          </a:xfrm>
          <a:prstGeom prst="ellipse">
            <a:avLst/>
          </a:prstGeom>
          <a:solidFill>
            <a:srgbClr val="F5B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47603" y="800036"/>
            <a:ext cx="3401872" cy="30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5B72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03 · WHY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927" y="1295656"/>
            <a:ext cx="15304730" cy="174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71"/>
              </a:lnSpc>
              <a:buNone/>
            </a:pPr>
            <a:r>
              <a:rPr lang="en-US" sz="6600" b="1" kern="0" spc="-198" dirty="0">
                <a:solidFill>
                  <a:srgbClr val="FDF6E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Designed </a:t>
            </a:r>
            <a:r>
              <a:rPr lang="en-US" sz="6600" b="1" i="1" kern="0" spc="-198" dirty="0">
                <a:solidFill>
                  <a:srgbClr val="F5B72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Around </a:t>
            </a:r>
            <a:r>
              <a:rPr lang="en-US" sz="6600" b="1" kern="0" spc="-198" dirty="0">
                <a:solidFill>
                  <a:srgbClr val="FDF6E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the Accessibility Barrier, Not Around It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 rot="60000">
            <a:off x="1144503" y="4011419"/>
            <a:ext cx="5076827" cy="3733801"/>
          </a:xfrm>
          <a:prstGeom prst="roundRect">
            <a:avLst>
              <a:gd name="adj" fmla="val 7143"/>
            </a:avLst>
          </a:prstGeom>
          <a:solidFill>
            <a:srgbClr val="FDF6E9"/>
          </a:solidFill>
          <a:ln w="33389">
            <a:solidFill>
              <a:srgbClr val="FDF6E9"/>
            </a:solidFill>
            <a:prstDash val="solid"/>
          </a:ln>
          <a:effectLst>
            <a:outerShdw blurRad="101600" dist="161645" dir="2700000" algn="bl" rotWithShape="0">
              <a:srgbClr val="E8452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60303" y="4386726"/>
            <a:ext cx="213089" cy="213089"/>
          </a:xfrm>
          <a:prstGeom prst="ellipse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64933" y="4392043"/>
            <a:ext cx="213089" cy="213089"/>
          </a:xfrm>
          <a:prstGeom prst="ellipse">
            <a:avLst/>
          </a:prstGeom>
          <a:solidFill>
            <a:srgbClr val="F5B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69562" y="4397361"/>
            <a:ext cx="213089" cy="21308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42785" y="4767513"/>
            <a:ext cx="4432304" cy="945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95"/>
              </a:lnSpc>
              <a:buNone/>
            </a:pPr>
            <a:r>
              <a:rPr lang="en-US" sz="28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Voice + color + minimal text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513193" y="5752083"/>
            <a:ext cx="4445081" cy="1655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Spoken verdicts and a red/yellow/green system remove the literacy barrier — no dense paragraphs to parse under stress.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 rot="-66000">
            <a:off x="6605457" y="4011419"/>
            <a:ext cx="5076826" cy="3733801"/>
          </a:xfrm>
          <a:prstGeom prst="roundRect">
            <a:avLst>
              <a:gd name="adj" fmla="val 7143"/>
            </a:avLst>
          </a:prstGeom>
          <a:solidFill>
            <a:srgbClr val="FDF6E9"/>
          </a:solidFill>
          <a:ln w="33389">
            <a:solidFill>
              <a:srgbClr val="FDF6E9"/>
            </a:solidFill>
            <a:prstDash val="solid"/>
          </a:ln>
          <a:effectLst>
            <a:outerShdw blurRad="101600" dist="161645" dir="2700000" algn="bl" rotWithShape="0">
              <a:srgbClr val="3D8BD9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71679" y="4451843"/>
            <a:ext cx="708715" cy="222957"/>
          </a:xfrm>
          <a:prstGeom prst="roundRect">
            <a:avLst>
              <a:gd name="adj" fmla="val 46993"/>
            </a:avLst>
          </a:prstGeom>
          <a:solidFill>
            <a:srgbClr val="3D8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78990" y="4763805"/>
            <a:ext cx="4726186" cy="536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95"/>
              </a:lnSpc>
              <a:buNone/>
            </a:pPr>
            <a:r>
              <a:rPr lang="en-US" sz="28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Proactive, not opt-in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989904" y="5332229"/>
            <a:ext cx="4447714" cy="1663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The check happens to the user automatically, at the moment of risk — nothing to remember, nothing to already suspect.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 rot="42000">
            <a:off x="12066414" y="4011420"/>
            <a:ext cx="5076823" cy="3733799"/>
          </a:xfrm>
          <a:prstGeom prst="roundRect">
            <a:avLst>
              <a:gd name="adj" fmla="val 7143"/>
            </a:avLst>
          </a:prstGeom>
          <a:solidFill>
            <a:srgbClr val="FDF6E9"/>
          </a:solidFill>
          <a:ln w="33389">
            <a:solidFill>
              <a:srgbClr val="FDF6E9"/>
            </a:solidFill>
            <a:prstDash val="solid"/>
          </a:ln>
          <a:effectLst>
            <a:outerShdw blurRad="101600" dist="161645" dir="2700000" algn="bl" rotWithShape="0">
              <a:srgbClr val="2E9E5B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474518" y="4397841"/>
            <a:ext cx="4721842" cy="382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EN / اردو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467339" y="4861342"/>
            <a:ext cx="4723509" cy="506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95"/>
              </a:lnSpc>
              <a:buNone/>
            </a:pPr>
            <a:r>
              <a:rPr lang="en-US" sz="285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Bilingual throughout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2451339" y="5429828"/>
            <a:ext cx="4432248" cy="1247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Every screen and every spoken verdict is available in English or Urdu, including the toggle itself.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42927" y="8242298"/>
            <a:ext cx="13734977" cy="806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i="1" dirty="0">
                <a:solidFill>
                  <a:srgbClr val="E4DACA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The proactive layer specifically serves the user who wouldn't think to open a checking app in the first place.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142927" y="9334098"/>
            <a:ext cx="6554385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LOOP · NYLP AI HACKATHON 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64305" y="9334098"/>
            <a:ext cx="256841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163" y="781254"/>
            <a:ext cx="152338" cy="152338"/>
          </a:xfrm>
          <a:prstGeom prst="ellipse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1839" y="723867"/>
            <a:ext cx="2019032" cy="30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E8452C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05 · PROOF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7163" y="1162360"/>
            <a:ext cx="14765627" cy="151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55"/>
              </a:lnSpc>
              <a:buNone/>
            </a:pPr>
            <a:r>
              <a:rPr lang="en-US" sz="5700" b="1" kern="0" spc="-17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Real Screenshots, Real Device — </a:t>
            </a:r>
            <a:r>
              <a:rPr lang="en-US" sz="5700" b="1" i="1" kern="0" spc="-171" dirty="0">
                <a:solidFill>
                  <a:srgbClr val="2E9E5B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Not Mockups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 rot="-300000">
            <a:off x="15668747" y="2038769"/>
            <a:ext cx="1762126" cy="600075"/>
          </a:xfrm>
          <a:prstGeom prst="roundRect">
            <a:avLst>
              <a:gd name="adj" fmla="val 28571"/>
            </a:avLst>
          </a:prstGeom>
          <a:solidFill>
            <a:srgbClr val="F5B720"/>
          </a:solidFill>
          <a:ln w="33389">
            <a:solidFill>
              <a:srgbClr val="171410"/>
            </a:solidFill>
            <a:prstDash val="solid"/>
          </a:ln>
          <a:effectLst>
            <a:outerShdw blurRad="101600" dist="107763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 rot="-300000">
            <a:off x="15949786" y="2205508"/>
            <a:ext cx="1276247" cy="30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SHIPPED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603" y="2968065"/>
            <a:ext cx="3286630" cy="5902541"/>
          </a:xfrm>
          <a:prstGeom prst="roundRect">
            <a:avLst>
              <a:gd name="adj" fmla="val 8694"/>
            </a:avLst>
          </a:prstGeom>
          <a:solidFill>
            <a:srgbClr val="0C1220"/>
          </a:solidFill>
          <a:ln w="41736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b="18217"/>
          <a:stretch/>
        </p:blipFill>
        <p:spPr>
          <a:xfrm>
            <a:off x="792771" y="3011233"/>
            <a:ext cx="3200295" cy="58162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0876" y="8915146"/>
            <a:ext cx="3186400" cy="412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Home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3698" y="2983251"/>
            <a:ext cx="3226896" cy="5872039"/>
          </a:xfrm>
          <a:prstGeom prst="roundRect">
            <a:avLst>
              <a:gd name="adj" fmla="val 8855"/>
            </a:avLst>
          </a:prstGeom>
          <a:solidFill>
            <a:srgbClr val="0C1220"/>
          </a:solidFill>
          <a:ln w="41736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E8452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b="17109"/>
          <a:stretch/>
        </p:blipFill>
        <p:spPr>
          <a:xfrm>
            <a:off x="4206441" y="3025995"/>
            <a:ext cx="3141409" cy="57865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8862" y="8932181"/>
            <a:ext cx="3400931" cy="38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Scam caught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7546707" y="2993566"/>
            <a:ext cx="3187007" cy="5851347"/>
          </a:xfrm>
          <a:prstGeom prst="roundRect">
            <a:avLst>
              <a:gd name="adj" fmla="val 8966"/>
            </a:avLst>
          </a:prstGeom>
          <a:solidFill>
            <a:srgbClr val="0C1220"/>
          </a:solidFill>
          <a:ln w="41736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2E9E5B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b="16350"/>
          <a:stretch/>
        </p:blipFill>
        <p:spPr>
          <a:xfrm>
            <a:off x="7589166" y="3036024"/>
            <a:ext cx="3102089" cy="57664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6038" y="8943365"/>
            <a:ext cx="3399520" cy="35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Safe message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0888928" y="2973089"/>
            <a:ext cx="3266758" cy="5892445"/>
          </a:xfrm>
          <a:prstGeom prst="roundRect">
            <a:avLst>
              <a:gd name="adj" fmla="val 8747"/>
            </a:avLst>
          </a:prstGeom>
          <a:solidFill>
            <a:srgbClr val="0C1220"/>
          </a:solidFill>
          <a:ln w="41736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F5B72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b="17852"/>
          <a:stretch/>
        </p:blipFill>
        <p:spPr>
          <a:xfrm>
            <a:off x="10931955" y="3016116"/>
            <a:ext cx="3180705" cy="58063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21103" y="8920858"/>
            <a:ext cx="3402319" cy="40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Link intercepted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4258225" y="2978149"/>
            <a:ext cx="3246978" cy="5882281"/>
          </a:xfrm>
          <a:prstGeom prst="roundRect">
            <a:avLst>
              <a:gd name="adj" fmla="val 8800"/>
            </a:avLst>
          </a:prstGeom>
          <a:solidFill>
            <a:srgbClr val="0C1220"/>
          </a:solidFill>
          <a:ln w="41736">
            <a:solidFill>
              <a:srgbClr val="171410"/>
            </a:solidFill>
            <a:prstDash val="solid"/>
          </a:ln>
          <a:effectLst>
            <a:outerShdw blurRad="101600" dist="134704" dir="2700000" algn="bl" rotWithShape="0">
              <a:srgbClr val="3D8BD9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b="17486"/>
          <a:stretch/>
        </p:blipFill>
        <p:spPr>
          <a:xfrm>
            <a:off x="14301111" y="3021034"/>
            <a:ext cx="3161208" cy="579650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269752" y="8926535"/>
            <a:ext cx="3401789" cy="39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VERIFY flow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857163" y="9523477"/>
            <a:ext cx="6554385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LOOP · NYLP AI HACKATHON 2026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7250069" y="9523477"/>
            <a:ext cx="256841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27" y="857423"/>
            <a:ext cx="152338" cy="152338"/>
          </a:xfrm>
          <a:prstGeom prst="ellipse">
            <a:avLst/>
          </a:prstGeom>
          <a:solidFill>
            <a:srgbClr val="E845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47603" y="800036"/>
            <a:ext cx="5603020" cy="30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E8452C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04 · IMPLEMENTATION STRATEGY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927" y="1257572"/>
            <a:ext cx="6332348" cy="1631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83"/>
              </a:lnSpc>
              <a:buNone/>
            </a:pPr>
            <a:r>
              <a:rPr lang="en-US" sz="6150" b="1" kern="0" spc="-184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Why Android, and </a:t>
            </a:r>
            <a:r>
              <a:rPr lang="en-US" sz="6150" b="1" i="1" kern="0" spc="-184" dirty="0">
                <a:solidFill>
                  <a:srgbClr val="2E9E5B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How It's Built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7862236" y="1693196"/>
            <a:ext cx="9561191" cy="1195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03"/>
              </a:lnSpc>
              <a:buNone/>
            </a:pPr>
            <a:r>
              <a:rPr lang="en-US" sz="2025" dirty="0">
                <a:solidFill>
                  <a:srgbClr val="4A443A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Link-handler, share-target, and system-overlay access are OS-level capabilities that don't exist the same way on iOS. That's the real technical differentiator — not a platform of convenience.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 rot="-60000">
            <a:off x="1141304" y="3347468"/>
            <a:ext cx="5095877" cy="3486151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61645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95987" y="3703485"/>
            <a:ext cx="4778477" cy="3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LAYER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2311" y="4065754"/>
            <a:ext cx="4782004" cy="564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Android (Kotlin)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512836" y="4731201"/>
            <a:ext cx="763165" cy="89456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17157" y="4916266"/>
            <a:ext cx="4496300" cy="1599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50"/>
              </a:lnSpc>
              <a:buNone/>
            </a:pPr>
            <a:r>
              <a:rPr lang="en-US" sz="195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WindowManager overlay bubble · VIEW intent-filter for link interception · WebView check UI with JS↔native bridge.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 rot="48000">
            <a:off x="6595932" y="3347468"/>
            <a:ext cx="5095877" cy="3486152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61645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89093" y="3710984"/>
            <a:ext cx="4777857" cy="365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LAYER 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81470" y="4073273"/>
            <a:ext cx="4780678" cy="549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Backend (Node.js)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978280" y="4676306"/>
            <a:ext cx="762940" cy="86800"/>
          </a:xfrm>
          <a:prstGeom prst="rect">
            <a:avLst/>
          </a:prstGeom>
          <a:solidFill>
            <a:srgbClr val="F5B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60328" y="4923831"/>
            <a:ext cx="4485997" cy="1212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50"/>
              </a:lnSpc>
              <a:buNone/>
            </a:pPr>
            <a:r>
              <a:rPr lang="en-US" sz="195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Zero npm dependencies, built-in http · Groq API for text classification · Gemini API for image/video analysis.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 rot="-30000">
            <a:off x="12050628" y="3347468"/>
            <a:ext cx="5095875" cy="348615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33389">
            <a:solidFill>
              <a:srgbClr val="171410"/>
            </a:solidFill>
            <a:prstDash val="solid"/>
          </a:ln>
          <a:effectLst>
            <a:outerShdw blurRad="101600" dist="161645" dir="2700000" algn="bl" rotWithShape="0">
              <a:srgbClr val="17141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416772" y="3722266"/>
            <a:ext cx="4776602" cy="343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LAYER 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19934" y="4084577"/>
            <a:ext cx="4778365" cy="52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Frontend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2425197" y="4718871"/>
            <a:ext cx="762587" cy="82815"/>
          </a:xfrm>
          <a:prstGeom prst="rect">
            <a:avLst/>
          </a:prstGeom>
          <a:solidFill>
            <a:srgbClr val="3D8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427358" y="4935185"/>
            <a:ext cx="4480252" cy="1190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50"/>
              </a:lnSpc>
              <a:buNone/>
            </a:pPr>
            <a:r>
              <a:rPr lang="en-US" sz="1950" dirty="0">
                <a:solidFill>
                  <a:srgbClr val="17141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Single-page vanilla HTML/JS, mobile-first, bilingual · Web Speech API powers spoken verdicts.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2927" y="7534213"/>
            <a:ext cx="16002019" cy="1514251"/>
          </a:xfrm>
          <a:prstGeom prst="roundRect">
            <a:avLst>
              <a:gd name="adj" fmla="val 17613"/>
            </a:avLst>
          </a:prstGeom>
          <a:solidFill>
            <a:srgbClr val="1714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42945" y="7934254"/>
            <a:ext cx="1136697" cy="31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B72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NEXT 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50991" y="7877104"/>
            <a:ext cx="14310755" cy="866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67"/>
              </a:lnSpc>
              <a:buNone/>
            </a:pPr>
            <a:r>
              <a:rPr lang="en-US" sz="2250" dirty="0">
                <a:solidFill>
                  <a:srgbClr val="FDF6E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FLAG is live: one-tap community reports turn a scam red for everyone. Next, Urdu voice-first verdicts (spoken input, Urdu audio out, no reading required) on the same check engine.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42927" y="9334098"/>
            <a:ext cx="6554385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LOOP · NYLP AI HACKATHON 2026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64305" y="9334098"/>
            <a:ext cx="256841" cy="305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D8577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45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27" y="2578661"/>
            <a:ext cx="380976" cy="380976"/>
          </a:xfrm>
          <a:prstGeom prst="ellipse">
            <a:avLst/>
          </a:prstGeom>
          <a:solidFill>
            <a:srgbClr val="FD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714325" y="2578661"/>
            <a:ext cx="380976" cy="380976"/>
          </a:xfrm>
          <a:prstGeom prst="ellipse">
            <a:avLst/>
          </a:prstGeom>
          <a:solidFill>
            <a:srgbClr val="F5B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5723" y="2578661"/>
            <a:ext cx="380976" cy="380976"/>
          </a:xfrm>
          <a:prstGeom prst="ellipse">
            <a:avLst/>
          </a:prstGeom>
          <a:solidFill>
            <a:srgbClr val="1714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927" y="3378697"/>
            <a:ext cx="15304730" cy="2390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399"/>
              </a:lnSpc>
              <a:buNone/>
            </a:pPr>
            <a:r>
              <a:rPr lang="en-US" sz="9450" b="1" kern="0" spc="-378" dirty="0">
                <a:solidFill>
                  <a:srgbClr val="FDF6E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A shield that checks the door, </a:t>
            </a:r>
            <a:r>
              <a:rPr lang="en-US" sz="9450" b="1" i="1" kern="0" spc="-378" dirty="0">
                <a:solidFill>
                  <a:srgbClr val="F5B720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not the house.</a:t>
            </a:r>
            <a:endParaRPr lang="en-US" sz="9450" dirty="0"/>
          </a:p>
        </p:txBody>
      </p:sp>
      <p:sp>
        <p:nvSpPr>
          <p:cNvPr id="6" name="Text 4"/>
          <p:cNvSpPr/>
          <p:nvPr/>
        </p:nvSpPr>
        <p:spPr>
          <a:xfrm>
            <a:off x="1142927" y="6149867"/>
            <a:ext cx="17602220" cy="538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E0D9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Proactive. Bilingual. Honest about what it can't do yet.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142927" y="7069764"/>
            <a:ext cx="7506954" cy="638568"/>
          </a:xfrm>
          <a:prstGeom prst="roundRect">
            <a:avLst>
              <a:gd name="adj" fmla="val 50000"/>
            </a:avLst>
          </a:prstGeom>
          <a:solidFill>
            <a:srgbClr val="FD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47727" y="7222164"/>
            <a:ext cx="7122563" cy="37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17141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LOOP — YOUR DIGITAL WATCHMAN.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Office PowerPoint</Application>
  <PresentationFormat>Custom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Azeret Mono</vt:lpstr>
      <vt:lpstr>Chivo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Arham</cp:lastModifiedBy>
  <cp:revision>1</cp:revision>
  <dcterms:created xsi:type="dcterms:W3CDTF">2026-10-15T17:17:16Z</dcterms:created>
  <dcterms:modified xsi:type="dcterms:W3CDTF">2026-10-19T13:58:12Z</dcterms:modified>
</cp:coreProperties>
</file>